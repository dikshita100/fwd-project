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4"/>
  </p:notesMasterIdLst>
  <p:handoutMasterIdLst>
    <p:handoutMasterId r:id="rId25"/>
  </p:handoutMasterIdLst>
  <p:sldIdLst>
    <p:sldId id="314" r:id="rId2"/>
    <p:sldId id="322" r:id="rId3"/>
    <p:sldId id="323" r:id="rId4"/>
    <p:sldId id="266" r:id="rId5"/>
    <p:sldId id="353" r:id="rId6"/>
    <p:sldId id="341" r:id="rId7"/>
    <p:sldId id="354" r:id="rId8"/>
    <p:sldId id="342" r:id="rId9"/>
    <p:sldId id="343" r:id="rId10"/>
    <p:sldId id="350" r:id="rId11"/>
    <p:sldId id="344" r:id="rId12"/>
    <p:sldId id="345" r:id="rId13"/>
    <p:sldId id="356" r:id="rId14"/>
    <p:sldId id="357" r:id="rId15"/>
    <p:sldId id="358" r:id="rId16"/>
    <p:sldId id="359" r:id="rId17"/>
    <p:sldId id="340" r:id="rId18"/>
    <p:sldId id="351" r:id="rId19"/>
    <p:sldId id="352" r:id="rId20"/>
    <p:sldId id="347" r:id="rId21"/>
    <p:sldId id="348" r:id="rId22"/>
    <p:sldId id="33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95833"/>
  </p:normalViewPr>
  <p:slideViewPr>
    <p:cSldViewPr snapToGrid="0" snapToObjects="1">
      <p:cViewPr varScale="1">
        <p:scale>
          <a:sx n="72" d="100"/>
          <a:sy n="72" d="100"/>
        </p:scale>
        <p:origin x="570" y="66"/>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51" r:id="rId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Emergency Blood Request And Donor Finder</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Dikshita Siripireddy</a:t>
            </a:r>
          </a:p>
          <a:p>
            <a:pPr marL="0" indent="0" algn="ctr">
              <a:buNone/>
            </a:pPr>
            <a:r>
              <a:rPr lang="en-US" sz="9600" dirty="0"/>
              <a:t>Student ID: 2520090007</a:t>
            </a:r>
            <a:endParaRPr lang="en-US" sz="2400" dirty="0"/>
          </a:p>
          <a:p>
            <a:pPr marL="0" indent="0" algn="ctr">
              <a:buNone/>
            </a:pPr>
            <a:r>
              <a:rPr lang="en-US" sz="11200" dirty="0"/>
              <a:t>Cluster: 2</a:t>
            </a:r>
          </a:p>
          <a:p>
            <a:pPr marL="0" indent="0" algn="ctr">
              <a:buNone/>
            </a:pPr>
            <a:r>
              <a:rPr lang="en-US" sz="11200" dirty="0"/>
              <a:t>Section: 8</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403008" y="5058242"/>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Ms. N. M. Deepika</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r>
              <a:rPr lang="en-US" sz="2500" dirty="0">
                <a:latin typeface="Times New Roman" panose="02020603050405020304" pitchFamily="18" charset="0"/>
                <a:cs typeface="Times New Roman" panose="02020603050405020304" pitchFamily="18" charset="0"/>
              </a:rPr>
              <a:t>Emergency</a:t>
            </a:r>
            <a:r>
              <a:rPr lang="en-US" sz="2500" spc="4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situations</a:t>
            </a:r>
            <a:r>
              <a:rPr lang="en-US" sz="2500" spc="4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often</a:t>
            </a:r>
            <a:r>
              <a:rPr lang="en-US" sz="2500" spc="4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require</a:t>
            </a:r>
            <a:r>
              <a:rPr lang="en-US" sz="2500" spc="4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immediate</a:t>
            </a:r>
            <a:r>
              <a:rPr lang="en-US" sz="2500" spc="4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access</a:t>
            </a:r>
            <a:r>
              <a:rPr lang="en-US" sz="2500" spc="4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to</a:t>
            </a:r>
            <a:r>
              <a:rPr lang="en-US" sz="2500" spc="4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blood,</a:t>
            </a:r>
            <a:r>
              <a:rPr lang="en-US" sz="2500" spc="45" dirty="0">
                <a:latin typeface="Times New Roman" panose="02020603050405020304" pitchFamily="18" charset="0"/>
                <a:cs typeface="Times New Roman" panose="02020603050405020304" pitchFamily="18" charset="0"/>
              </a:rPr>
              <a:t> </a:t>
            </a:r>
            <a:r>
              <a:rPr lang="en-US" sz="2500" spc="-25" dirty="0">
                <a:latin typeface="Times New Roman" panose="02020603050405020304" pitchFamily="18" charset="0"/>
                <a:cs typeface="Times New Roman" panose="02020603050405020304" pitchFamily="18" charset="0"/>
              </a:rPr>
              <a:t>yet </a:t>
            </a:r>
            <a:r>
              <a:rPr lang="en-US" sz="2500" dirty="0">
                <a:latin typeface="Times New Roman" panose="02020603050405020304" pitchFamily="18" charset="0"/>
                <a:cs typeface="Times New Roman" panose="02020603050405020304" pitchFamily="18" charset="0"/>
              </a:rPr>
              <a:t>finding</a:t>
            </a:r>
            <a:r>
              <a:rPr lang="en-US" sz="2500" spc="78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compatible</a:t>
            </a:r>
            <a:r>
              <a:rPr lang="en-US" sz="2500" spc="78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donors</a:t>
            </a:r>
            <a:r>
              <a:rPr lang="en-US" sz="2500" spc="78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within</a:t>
            </a:r>
            <a:r>
              <a:rPr lang="en-US" sz="2500" spc="79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a</a:t>
            </a:r>
            <a:r>
              <a:rPr lang="en-US" sz="2500" spc="78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short</a:t>
            </a:r>
            <a:r>
              <a:rPr lang="en-US" sz="2500" spc="78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time</a:t>
            </a:r>
            <a:r>
              <a:rPr lang="en-US" sz="2500" spc="79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frame</a:t>
            </a:r>
            <a:r>
              <a:rPr lang="en-US" sz="2500" spc="78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remains</a:t>
            </a:r>
            <a:r>
              <a:rPr lang="en-US" sz="2500" spc="785" dirty="0">
                <a:latin typeface="Times New Roman" panose="02020603050405020304" pitchFamily="18" charset="0"/>
                <a:cs typeface="Times New Roman" panose="02020603050405020304" pitchFamily="18" charset="0"/>
              </a:rPr>
              <a:t> </a:t>
            </a:r>
            <a:r>
              <a:rPr lang="en-US" sz="2500" spc="-50" dirty="0">
                <a:latin typeface="Times New Roman" panose="02020603050405020304" pitchFamily="18" charset="0"/>
                <a:cs typeface="Times New Roman" panose="02020603050405020304" pitchFamily="18" charset="0"/>
              </a:rPr>
              <a:t>a </a:t>
            </a:r>
            <a:r>
              <a:rPr lang="en-US" sz="2500" dirty="0">
                <a:latin typeface="Times New Roman" panose="02020603050405020304" pitchFamily="18" charset="0"/>
                <a:cs typeface="Times New Roman" panose="02020603050405020304" pitchFamily="18" charset="0"/>
              </a:rPr>
              <a:t>major</a:t>
            </a:r>
            <a:r>
              <a:rPr lang="en-US" sz="2500" spc="-4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challenge.</a:t>
            </a:r>
            <a:r>
              <a:rPr lang="en-US" sz="2500" spc="-11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The</a:t>
            </a:r>
            <a:r>
              <a:rPr lang="en-US" sz="2500" spc="-3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Emergency</a:t>
            </a:r>
            <a:r>
              <a:rPr lang="en-US" sz="2500" spc="-4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Blood</a:t>
            </a:r>
            <a:r>
              <a:rPr lang="en-US" sz="2500" spc="-3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Request</a:t>
            </a:r>
            <a:r>
              <a:rPr lang="en-US" sz="2500" spc="-3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and</a:t>
            </a:r>
            <a:r>
              <a:rPr lang="en-US" sz="2500" spc="-3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Donor</a:t>
            </a:r>
            <a:r>
              <a:rPr lang="en-US" sz="2500" spc="-40" dirty="0">
                <a:latin typeface="Times New Roman" panose="02020603050405020304" pitchFamily="18" charset="0"/>
                <a:cs typeface="Times New Roman" panose="02020603050405020304" pitchFamily="18" charset="0"/>
              </a:rPr>
              <a:t> </a:t>
            </a:r>
            <a:r>
              <a:rPr lang="en-US" sz="2500" spc="-10" dirty="0">
                <a:latin typeface="Times New Roman" panose="02020603050405020304" pitchFamily="18" charset="0"/>
                <a:cs typeface="Times New Roman" panose="02020603050405020304" pitchFamily="18" charset="0"/>
              </a:rPr>
              <a:t>Finder </a:t>
            </a:r>
            <a:r>
              <a:rPr lang="en-US" sz="2500" dirty="0">
                <a:latin typeface="Times New Roman" panose="02020603050405020304" pitchFamily="18" charset="0"/>
                <a:cs typeface="Times New Roman" panose="02020603050405020304" pitchFamily="18" charset="0"/>
              </a:rPr>
              <a:t>system</a:t>
            </a:r>
            <a:r>
              <a:rPr lang="en-US" sz="2500" spc="61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is</a:t>
            </a:r>
            <a:r>
              <a:rPr lang="en-US" sz="2500" spc="62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designed</a:t>
            </a:r>
            <a:r>
              <a:rPr lang="en-US" sz="2500" spc="62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to</a:t>
            </a:r>
            <a:r>
              <a:rPr lang="en-US" sz="2500" spc="62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bridge</a:t>
            </a:r>
            <a:r>
              <a:rPr lang="en-US" sz="2500" spc="62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the</a:t>
            </a:r>
            <a:r>
              <a:rPr lang="en-US" sz="2500" spc="61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gap</a:t>
            </a:r>
            <a:r>
              <a:rPr lang="en-US" sz="2500" spc="62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between</a:t>
            </a:r>
            <a:r>
              <a:rPr lang="en-US" sz="2500" spc="62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patients</a:t>
            </a:r>
            <a:r>
              <a:rPr lang="en-US" sz="2500" spc="62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in</a:t>
            </a:r>
            <a:r>
              <a:rPr lang="en-US" sz="2500" spc="620" dirty="0">
                <a:latin typeface="Times New Roman" panose="02020603050405020304" pitchFamily="18" charset="0"/>
                <a:cs typeface="Times New Roman" panose="02020603050405020304" pitchFamily="18" charset="0"/>
              </a:rPr>
              <a:t> </a:t>
            </a:r>
            <a:r>
              <a:rPr lang="en-US" sz="2500" spc="-10" dirty="0">
                <a:latin typeface="Times New Roman" panose="02020603050405020304" pitchFamily="18" charset="0"/>
                <a:cs typeface="Times New Roman" panose="02020603050405020304" pitchFamily="18" charset="0"/>
              </a:rPr>
              <a:t>urgent </a:t>
            </a:r>
            <a:r>
              <a:rPr lang="en-US" sz="2500" dirty="0">
                <a:latin typeface="Times New Roman" panose="02020603050405020304" pitchFamily="18" charset="0"/>
                <a:cs typeface="Times New Roman" panose="02020603050405020304" pitchFamily="18" charset="0"/>
              </a:rPr>
              <a:t>need and available blood donors through a fast, reliable, and </a:t>
            </a:r>
            <a:r>
              <a:rPr lang="en-US" sz="2500" spc="-20" dirty="0">
                <a:latin typeface="Times New Roman" panose="02020603050405020304" pitchFamily="18" charset="0"/>
                <a:cs typeface="Times New Roman" panose="02020603050405020304" pitchFamily="18" charset="0"/>
              </a:rPr>
              <a:t>user-</a:t>
            </a:r>
            <a:r>
              <a:rPr lang="en-US" sz="2500" dirty="0">
                <a:latin typeface="Times New Roman" panose="02020603050405020304" pitchFamily="18" charset="0"/>
                <a:cs typeface="Times New Roman" panose="02020603050405020304" pitchFamily="18" charset="0"/>
              </a:rPr>
              <a:t>friendly</a:t>
            </a:r>
            <a:r>
              <a:rPr lang="en-US" sz="2500" spc="4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digital</a:t>
            </a:r>
            <a:r>
              <a:rPr lang="en-US" sz="2500" spc="4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platform.</a:t>
            </a:r>
            <a:r>
              <a:rPr lang="en-US" sz="2500" spc="-2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This</a:t>
            </a:r>
            <a:r>
              <a:rPr lang="en-US" sz="2500" spc="5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system</a:t>
            </a:r>
            <a:r>
              <a:rPr lang="en-US" sz="2500" spc="4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allows</a:t>
            </a:r>
            <a:r>
              <a:rPr lang="en-US" sz="2500" spc="4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hospitals,</a:t>
            </a:r>
            <a:r>
              <a:rPr lang="en-US" sz="2500" spc="4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patients,</a:t>
            </a:r>
            <a:r>
              <a:rPr lang="en-US" sz="2500" spc="45" dirty="0">
                <a:latin typeface="Times New Roman" panose="02020603050405020304" pitchFamily="18" charset="0"/>
                <a:cs typeface="Times New Roman" panose="02020603050405020304" pitchFamily="18" charset="0"/>
              </a:rPr>
              <a:t> </a:t>
            </a:r>
            <a:r>
              <a:rPr lang="en-US" sz="2500" spc="-25" dirty="0">
                <a:latin typeface="Times New Roman" panose="02020603050405020304" pitchFamily="18" charset="0"/>
                <a:cs typeface="Times New Roman" panose="02020603050405020304" pitchFamily="18" charset="0"/>
              </a:rPr>
              <a:t>or </a:t>
            </a:r>
            <a:r>
              <a:rPr lang="en-US" sz="2500" dirty="0">
                <a:latin typeface="Times New Roman" panose="02020603050405020304" pitchFamily="18" charset="0"/>
                <a:cs typeface="Times New Roman" panose="02020603050405020304" pitchFamily="18" charset="0"/>
              </a:rPr>
              <a:t>caregivers</a:t>
            </a:r>
            <a:r>
              <a:rPr lang="en-US" sz="2500" spc="275"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to</a:t>
            </a:r>
            <a:r>
              <a:rPr lang="en-US" sz="2500" spc="28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raise</a:t>
            </a:r>
            <a:r>
              <a:rPr lang="en-US" sz="2500" spc="28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emergency</a:t>
            </a:r>
            <a:r>
              <a:rPr lang="en-US" sz="2500" spc="28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blood</a:t>
            </a:r>
            <a:r>
              <a:rPr lang="en-US" sz="2500" spc="28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requests</a:t>
            </a:r>
            <a:r>
              <a:rPr lang="en-US" sz="2500" spc="28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by</a:t>
            </a:r>
            <a:r>
              <a:rPr lang="en-US" sz="2500" spc="28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specifying</a:t>
            </a:r>
            <a:r>
              <a:rPr lang="en-US" sz="2500" spc="275" dirty="0">
                <a:latin typeface="Times New Roman" panose="02020603050405020304" pitchFamily="18" charset="0"/>
                <a:cs typeface="Times New Roman" panose="02020603050405020304" pitchFamily="18" charset="0"/>
              </a:rPr>
              <a:t> </a:t>
            </a:r>
            <a:r>
              <a:rPr lang="en-US" sz="2500" spc="-20" dirty="0">
                <a:latin typeface="Times New Roman" panose="02020603050405020304" pitchFamily="18" charset="0"/>
                <a:cs typeface="Times New Roman" panose="02020603050405020304" pitchFamily="18" charset="0"/>
              </a:rPr>
              <a:t>blood </a:t>
            </a:r>
            <a:r>
              <a:rPr lang="en-US" sz="2500" dirty="0">
                <a:latin typeface="Times New Roman" panose="02020603050405020304" pitchFamily="18" charset="0"/>
                <a:cs typeface="Times New Roman" panose="02020603050405020304" pitchFamily="18" charset="0"/>
              </a:rPr>
              <a:t>group,</a:t>
            </a:r>
            <a:r>
              <a:rPr lang="en-US" sz="2500" spc="-9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location</a:t>
            </a:r>
            <a:r>
              <a:rPr lang="en-US" sz="2500" spc="-10" dirty="0">
                <a:latin typeface="Times New Roman" panose="02020603050405020304" pitchFamily="18" charset="0"/>
                <a:cs typeface="Times New Roman" panose="02020603050405020304" pitchFamily="18" charset="0"/>
              </a:rPr>
              <a:t>. </a:t>
            </a:r>
            <a:endParaRPr lang="en-US" sz="25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351338"/>
          </a:xfrm>
        </p:spPr>
        <p:txBody>
          <a:bodyPr>
            <a:normAutofit/>
          </a:bodyPr>
          <a:lstStyle/>
          <a:p>
            <a:r>
              <a:rPr lang="en-US" sz="2500" dirty="0">
                <a:latin typeface="Times New Roman" panose="02020603050405020304" pitchFamily="18" charset="0"/>
                <a:cs typeface="Times New Roman" panose="02020603050405020304" pitchFamily="18" charset="0"/>
              </a:rPr>
              <a:t>Currently, most blood donation systems rely on hospital records, blood bank databases, or manual communication methods. In many cases, patients or caregivers must contact hospitals, blood banks, or social media groups to find available blood donors.</a:t>
            </a:r>
          </a:p>
          <a:p>
            <a:r>
              <a:rPr lang="en-US" sz="2500" dirty="0">
                <a:latin typeface="Times New Roman" panose="02020603050405020304" pitchFamily="18" charset="0"/>
                <a:cs typeface="Times New Roman" panose="02020603050405020304" pitchFamily="18" charset="0"/>
              </a:rPr>
              <a:t>Existing systems have several limitations:</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Complex Interfaces: Many government blood bank portals are not user-friendly.</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Slow Response Time: Finding donors during emergencies may take a long time.</a:t>
            </a:r>
          </a:p>
          <a:p>
            <a:pPr marL="117475" lvl="1" indent="0" algn="just">
              <a:buNone/>
            </a:pPr>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93083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F788B-7CAA-4F65-B70E-FB39DF574F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025358-A126-4FBD-88AE-6967D85AC3D3}"/>
              </a:ext>
            </a:extLst>
          </p:cNvPr>
          <p:cNvSpPr>
            <a:spLocks noGrp="1"/>
          </p:cNvSpPr>
          <p:nvPr>
            <p:ph idx="1"/>
          </p:nvPr>
        </p:nvSpPr>
        <p:spPr/>
        <p:txBody>
          <a:bodyPr/>
          <a:lstStyle/>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Limited Filtering: Users cannot easily search donors by city and blood group together.</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No Quick Emergency Feature: Most systems lack a one-click emergency donor search.</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Low User Engagement: Donor registration and participation are often limited.</a:t>
            </a:r>
          </a:p>
          <a:p>
            <a:endParaRPr lang="en-IN" dirty="0"/>
          </a:p>
        </p:txBody>
      </p:sp>
      <p:sp>
        <p:nvSpPr>
          <p:cNvPr id="4" name="Date Placeholder 3">
            <a:extLst>
              <a:ext uri="{FF2B5EF4-FFF2-40B4-BE49-F238E27FC236}">
                <a16:creationId xmlns:a16="http://schemas.microsoft.com/office/drawing/2014/main" id="{5CD92977-7362-4B1D-9965-DCC970A3AF9D}"/>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DAF83E4D-A14B-4E7D-96E6-F341E51A1086}"/>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FE7C30C2-34C3-4976-9256-1484ED0F174C}"/>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764141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3" name="Content Placeholder 2">
            <a:extLst>
              <a:ext uri="{FF2B5EF4-FFF2-40B4-BE49-F238E27FC236}">
                <a16:creationId xmlns:a16="http://schemas.microsoft.com/office/drawing/2014/main" id="{65496C1E-7049-49C1-A8E6-3213D6D09BC1}"/>
              </a:ext>
            </a:extLst>
          </p:cNvPr>
          <p:cNvSpPr>
            <a:spLocks noGrp="1" noChangeArrowheads="1"/>
          </p:cNvSpPr>
          <p:nvPr>
            <p:ph idx="1"/>
          </p:nvPr>
        </p:nvSpPr>
        <p:spPr bwMode="auto">
          <a:xfrm>
            <a:off x="1306461" y="1867506"/>
            <a:ext cx="957907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500" dirty="0">
                <a:latin typeface="Times New Roman" panose="02020603050405020304" pitchFamily="18" charset="0"/>
                <a:cs typeface="Times New Roman" panose="02020603050405020304" pitchFamily="18" charset="0"/>
              </a:rPr>
              <a:t>The proposed system is a web-based Emergency Blood Request &amp; Donor Finder platform that helps patients quickly locate blood donors during emergencies. The system allows users to search for donors based on blood group and city location.</a:t>
            </a:r>
          </a:p>
          <a:p>
            <a:pPr marL="0" marR="0" lvl="0" indent="0" algn="l" defTabSz="914400" rtl="0" eaLnBrk="0" fontAlgn="base" latinLnBrk="0" hangingPunct="0">
              <a:lnSpc>
                <a:spcPct val="100000"/>
              </a:lnSpc>
              <a:spcBef>
                <a:spcPct val="0"/>
              </a:spcBef>
              <a:spcAft>
                <a:spcPct val="0"/>
              </a:spcAft>
              <a:buClrTx/>
              <a:buSzTx/>
              <a:buNone/>
              <a:tabLst/>
            </a:pPr>
            <a:r>
              <a:rPr lang="en-US" sz="2500" dirty="0">
                <a:latin typeface="Times New Roman" panose="02020603050405020304" pitchFamily="18" charset="0"/>
                <a:cs typeface="Times New Roman" panose="02020603050405020304" pitchFamily="18" charset="0"/>
              </a:rPr>
              <a:t>This system makes the process of finding blood donors faster, easier, and more accessible, helping save lives during medical emergencies. </a:t>
            </a:r>
            <a:endParaRPr lang="en-US" altLang="en-US" sz="25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Calibri (Body)"/>
            </a:endParaRP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F5628-CD7D-44AD-B8D4-ABABDC8B83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01B851-CDF6-4A42-BB8E-EE3350C7171B}"/>
              </a:ext>
            </a:extLst>
          </p:cNvPr>
          <p:cNvSpPr>
            <a:spLocks noGrp="1"/>
          </p:cNvSpPr>
          <p:nvPr>
            <p:ph idx="1"/>
          </p:nvPr>
        </p:nvSpPr>
        <p:spPr/>
        <p:txBody>
          <a:bodyPr/>
          <a:lstStyle/>
          <a:p>
            <a:pPr marL="0" indent="0">
              <a:buNone/>
            </a:pPr>
            <a:r>
              <a:rPr lang="en-US" sz="2500" dirty="0">
                <a:latin typeface="Times New Roman" panose="02020603050405020304" pitchFamily="18" charset="0"/>
                <a:cs typeface="Times New Roman" panose="02020603050405020304" pitchFamily="18" charset="0"/>
              </a:rPr>
              <a:t>It includes features such as:</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Emergency donor search</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Blood compatibility checker</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Donor eligibility checker</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Donor registration system</a:t>
            </a:r>
          </a:p>
          <a:p>
            <a:pPr>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WhatsApp emergency contact option</a:t>
            </a:r>
          </a:p>
          <a:p>
            <a:pPr marL="0" indent="0">
              <a:buNone/>
            </a:pPr>
            <a:endParaRPr lang="en-IN" dirty="0"/>
          </a:p>
        </p:txBody>
      </p:sp>
      <p:sp>
        <p:nvSpPr>
          <p:cNvPr id="4" name="Date Placeholder 3">
            <a:extLst>
              <a:ext uri="{FF2B5EF4-FFF2-40B4-BE49-F238E27FC236}">
                <a16:creationId xmlns:a16="http://schemas.microsoft.com/office/drawing/2014/main" id="{3F20A9BD-A546-4C54-B86D-58C0F7042A69}"/>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ECEC6CAD-43A0-4AC3-B412-3CCF826A34F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40ED084F-C723-4F28-89AC-C6219B8952EA}"/>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827549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009409" y="-14826"/>
            <a:ext cx="10173182" cy="1128009"/>
          </a:xfrm>
        </p:spPr>
        <p:txBody>
          <a:bodyPr/>
          <a:lstStyle/>
          <a:p>
            <a:pPr algn="ctr"/>
            <a:r>
              <a:rPr lang="en-US" b="1" dirty="0"/>
              <a:t>System Architecture</a:t>
            </a:r>
          </a:p>
        </p:txBody>
      </p:sp>
      <p:pic>
        <p:nvPicPr>
          <p:cNvPr id="3" name="Content Placeholder 2">
            <a:extLst>
              <a:ext uri="{FF2B5EF4-FFF2-40B4-BE49-F238E27FC236}">
                <a16:creationId xmlns:a16="http://schemas.microsoft.com/office/drawing/2014/main" id="{CCEB30F7-FAB0-444A-9A20-E37B28D5F631}"/>
              </a:ext>
            </a:extLst>
          </p:cNvPr>
          <p:cNvPicPr>
            <a:picLocks noGrp="1" noChangeAspect="1"/>
          </p:cNvPicPr>
          <p:nvPr>
            <p:ph idx="1"/>
          </p:nvPr>
        </p:nvPicPr>
        <p:blipFill rotWithShape="1">
          <a:blip r:embed="rId2"/>
          <a:srcRect t="10070"/>
          <a:stretch/>
        </p:blipFill>
        <p:spPr>
          <a:xfrm>
            <a:off x="4008703" y="967409"/>
            <a:ext cx="4326914" cy="5836783"/>
          </a:xfrm>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3489011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3" name="Rectangle 1">
            <a:extLst>
              <a:ext uri="{FF2B5EF4-FFF2-40B4-BE49-F238E27FC236}">
                <a16:creationId xmlns:a16="http://schemas.microsoft.com/office/drawing/2014/main" id="{F4EE7532-4477-4C81-A852-51349E491C1E}"/>
              </a:ext>
            </a:extLst>
          </p:cNvPr>
          <p:cNvSpPr>
            <a:spLocks noGrp="1" noChangeArrowheads="1"/>
          </p:cNvSpPr>
          <p:nvPr>
            <p:ph idx="1"/>
          </p:nvPr>
        </p:nvSpPr>
        <p:spPr bwMode="auto">
          <a:xfrm>
            <a:off x="675861" y="1311849"/>
            <a:ext cx="10677939"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1. </a:t>
            </a: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Login Module</a:t>
            </a:r>
          </a:p>
          <a:p>
            <a:pPr marL="0" marR="0" lvl="0" indent="0" algn="l" defTabSz="914400" rtl="0" eaLnBrk="0" fontAlgn="base" latinLnBrk="0" hangingPunct="0">
              <a:lnSpc>
                <a:spcPct val="100000"/>
              </a:lnSpc>
              <a:spcBef>
                <a:spcPct val="0"/>
              </a:spcBef>
              <a:spcAft>
                <a:spcPct val="0"/>
              </a:spcAft>
              <a:buClrTx/>
              <a:buSzTx/>
              <a:buNone/>
              <a:tabLst/>
            </a:pPr>
            <a:r>
              <a:rPr lang="en-US" altLang="en-US" sz="2500" dirty="0">
                <a:latin typeface="Times New Roman" panose="02020603050405020304" pitchFamily="18" charset="0"/>
                <a:cs typeface="Times New Roman" panose="02020603050405020304" pitchFamily="18" charset="0"/>
              </a:rPr>
              <a:t>    </a:t>
            </a: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users to login and access the system.</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Donor Search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 search for donors based on blood group and city.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Emergency Mode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One-click feature to quickly find nearby donors.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Donor Registration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users to register themselves as blood donors.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4072965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5C7A-E4C6-4245-920C-B42B92E5215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D6269E9-42EA-4CB8-87B2-16F3C55D4C1B}"/>
              </a:ext>
            </a:extLst>
          </p:cNvPr>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Blood Compatibility Checker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Shows compatible blood groups for a selected blood type.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Eligibility Checker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Checks whether a person is eligible to donate blood based on:</a:t>
            </a:r>
          </a:p>
          <a:p>
            <a:pPr marR="0" lvl="1" defTabSz="914400" rtl="0" eaLnBrk="0" fontAlgn="base" latinLnBrk="0" hangingPunct="0">
              <a:lnSpc>
                <a:spcPct val="100000"/>
              </a:lnSpc>
              <a:spcBef>
                <a:spcPct val="0"/>
              </a:spcBef>
              <a:spcAft>
                <a:spcPct val="0"/>
              </a:spcAft>
              <a:buClrTx/>
              <a:buSzTx/>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Age</a:t>
            </a:r>
          </a:p>
          <a:p>
            <a:pPr marR="0" lvl="1" defTabSz="914400" rtl="0" eaLnBrk="0" fontAlgn="base" latinLnBrk="0" hangingPunct="0">
              <a:lnSpc>
                <a:spcPct val="100000"/>
              </a:lnSpc>
              <a:spcBef>
                <a:spcPct val="0"/>
              </a:spcBef>
              <a:spcAft>
                <a:spcPct val="0"/>
              </a:spcAft>
              <a:buClrTx/>
              <a:buSzTx/>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Weight</a:t>
            </a:r>
          </a:p>
          <a:p>
            <a:pPr marR="0" lvl="1" defTabSz="914400" rtl="0" eaLnBrk="0" fontAlgn="base" latinLnBrk="0" hangingPunct="0">
              <a:lnSpc>
                <a:spcPct val="100000"/>
              </a:lnSpc>
              <a:spcBef>
                <a:spcPct val="0"/>
              </a:spcBef>
              <a:spcAft>
                <a:spcPct val="0"/>
              </a:spcAft>
              <a:buClrTx/>
              <a:buSzTx/>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Last donation date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Contact Donor Module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Generates a WhatsApp message to contact the donor instantly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indent="0">
              <a:buNone/>
            </a:pPr>
            <a:endParaRPr lang="en-IN" dirty="0"/>
          </a:p>
        </p:txBody>
      </p:sp>
      <p:sp>
        <p:nvSpPr>
          <p:cNvPr id="4" name="Date Placeholder 3">
            <a:extLst>
              <a:ext uri="{FF2B5EF4-FFF2-40B4-BE49-F238E27FC236}">
                <a16:creationId xmlns:a16="http://schemas.microsoft.com/office/drawing/2014/main" id="{C35591B1-1F13-4F67-AC9D-65B1BF1FA8C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EBBAE5F9-DB56-4B40-AA8D-1ED94382FD1C}"/>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697F1CD-59A7-4300-BC1A-5FB4A61F990F}"/>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673958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2" name="Content Placeholder 1">
            <a:extLst>
              <a:ext uri="{FF2B5EF4-FFF2-40B4-BE49-F238E27FC236}">
                <a16:creationId xmlns:a16="http://schemas.microsoft.com/office/drawing/2014/main" id="{174FDE5C-3184-41D3-B7CE-8274646E2185}"/>
              </a:ext>
            </a:extLst>
          </p:cNvPr>
          <p:cNvSpPr>
            <a:spLocks noGrp="1" noChangeArrowheads="1"/>
          </p:cNvSpPr>
          <p:nvPr>
            <p:ph idx="1"/>
          </p:nvPr>
        </p:nvSpPr>
        <p:spPr bwMode="auto">
          <a:xfrm>
            <a:off x="1435557" y="1734369"/>
            <a:ext cx="9320885"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a simple web application for emergency blood donor search.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the time required to find compatible blood donors.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allow users to register as blood donors easily.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quick communication with donors during emergencies.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awareness and participation in blood donation.</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1263985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p:txBody>
          <a:bodyPr>
            <a:normAutofit/>
          </a:bodyPr>
          <a:lstStyle/>
          <a:p>
            <a:pPr marL="0" indent="0">
              <a:buNone/>
            </a:pPr>
            <a:r>
              <a:rPr lang="en-IN" sz="2500" dirty="0">
                <a:latin typeface="Times New Roman" panose="02020603050405020304" pitchFamily="18" charset="0"/>
                <a:cs typeface="Times New Roman" panose="02020603050405020304" pitchFamily="18" charset="0"/>
              </a:rPr>
              <a:t>CO1 – Internet Fundamentals, </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HTML &amp; Introductory CSS</a:t>
            </a:r>
          </a:p>
          <a:p>
            <a:pPr>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Designed Login and Register pages using HTML.</a:t>
            </a:r>
          </a:p>
          <a:p>
            <a:pPr>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Used semantic HTML elements (section, input, button, select).</a:t>
            </a:r>
          </a:p>
          <a:p>
            <a:pPr>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Created blood group selection forms.</a:t>
            </a:r>
          </a:p>
          <a:p>
            <a:pPr>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Applied CSS styling for layout and </a:t>
            </a:r>
            <a:r>
              <a:rPr lang="en-IN" sz="2500" dirty="0" err="1">
                <a:latin typeface="Times New Roman" panose="02020603050405020304" pitchFamily="18" charset="0"/>
                <a:cs typeface="Times New Roman" panose="02020603050405020304" pitchFamily="18" charset="0"/>
              </a:rPr>
              <a:t>colors</a:t>
            </a:r>
            <a:r>
              <a:rPr lang="en-IN" sz="25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Used Flexbox layout for login page design.</a:t>
            </a:r>
          </a:p>
          <a:p>
            <a:pPr marL="0" indent="0">
              <a:buNone/>
            </a:pPr>
            <a:endParaRPr lang="en-IN"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1906946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4D4CA-1142-4F82-86CE-A01C464EB942}"/>
              </a:ext>
            </a:extLst>
          </p:cNvPr>
          <p:cNvSpPr>
            <a:spLocks noGrp="1"/>
          </p:cNvSpPr>
          <p:nvPr>
            <p:ph type="title"/>
          </p:nvPr>
        </p:nvSpPr>
        <p:spPr/>
        <p:txBody>
          <a:bodyPr/>
          <a:lstStyle/>
          <a:p>
            <a:r>
              <a:rPr lang="en-US" dirty="0"/>
              <a:t>CO2 – HTML Forms &amp; Input Handling</a:t>
            </a:r>
            <a:endParaRPr lang="en-IN" dirty="0"/>
          </a:p>
        </p:txBody>
      </p:sp>
      <p:sp>
        <p:nvSpPr>
          <p:cNvPr id="3" name="Content Placeholder 2">
            <a:extLst>
              <a:ext uri="{FF2B5EF4-FFF2-40B4-BE49-F238E27FC236}">
                <a16:creationId xmlns:a16="http://schemas.microsoft.com/office/drawing/2014/main" id="{1D16410C-DFA9-4349-A358-6FED36DA74C3}"/>
              </a:ext>
            </a:extLst>
          </p:cNvPr>
          <p:cNvSpPr>
            <a:spLocks noGrp="1"/>
          </p:cNvSpPr>
          <p:nvPr>
            <p:ph idx="1"/>
          </p:nvPr>
        </p:nvSpPr>
        <p:spPr/>
        <p:txBody>
          <a:bodyPr/>
          <a:lstStyle/>
          <a:p>
            <a:pPr>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Created user login and registration forms.</a:t>
            </a:r>
          </a:p>
          <a:p>
            <a:pPr>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Implemented donor registration form.</a:t>
            </a:r>
          </a:p>
          <a:p>
            <a:pPr>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Used different input types (email, password, text, date).</a:t>
            </a:r>
          </a:p>
          <a:p>
            <a:pPr>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Applied form validation using JavaScript.</a:t>
            </a:r>
          </a:p>
          <a:p>
            <a:pPr>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Designed dropdown selection for blood groups.</a:t>
            </a:r>
          </a:p>
          <a:p>
            <a:pPr marL="0" indent="0">
              <a:buNone/>
            </a:pPr>
            <a:endParaRPr lang="en-IN" dirty="0"/>
          </a:p>
        </p:txBody>
      </p:sp>
      <p:sp>
        <p:nvSpPr>
          <p:cNvPr id="4" name="Date Placeholder 3">
            <a:extLst>
              <a:ext uri="{FF2B5EF4-FFF2-40B4-BE49-F238E27FC236}">
                <a16:creationId xmlns:a16="http://schemas.microsoft.com/office/drawing/2014/main" id="{A748F08D-8819-4F38-B663-9A0DAA3DD5ED}"/>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EA902B76-47D8-4C08-941E-1C6E134CEA5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271E6ED-5677-4B73-9CE6-BEF4D66E190A}"/>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952503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2641E-CB44-46CC-8F94-E9AC34E60B4F}"/>
              </a:ext>
            </a:extLst>
          </p:cNvPr>
          <p:cNvSpPr>
            <a:spLocks noGrp="1"/>
          </p:cNvSpPr>
          <p:nvPr>
            <p:ph type="title"/>
          </p:nvPr>
        </p:nvSpPr>
        <p:spPr/>
        <p:txBody>
          <a:bodyPr/>
          <a:lstStyle/>
          <a:p>
            <a:r>
              <a:rPr lang="en-IN" dirty="0"/>
              <a:t>CO3 – JavaScript Programming Essentials</a:t>
            </a:r>
          </a:p>
        </p:txBody>
      </p:sp>
      <p:sp>
        <p:nvSpPr>
          <p:cNvPr id="10" name="Rectangle 4">
            <a:extLst>
              <a:ext uri="{FF2B5EF4-FFF2-40B4-BE49-F238E27FC236}">
                <a16:creationId xmlns:a16="http://schemas.microsoft.com/office/drawing/2014/main" id="{3ABA81B2-44E7-46CB-BDC0-44328D49DCDD}"/>
              </a:ext>
            </a:extLst>
          </p:cNvPr>
          <p:cNvSpPr>
            <a:spLocks noGrp="1" noChangeArrowheads="1"/>
          </p:cNvSpPr>
          <p:nvPr>
            <p:ph idx="1"/>
          </p:nvPr>
        </p:nvSpPr>
        <p:spPr bwMode="auto">
          <a:xfrm>
            <a:off x="838200" y="1892165"/>
            <a:ext cx="8735084"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JavaScript variables, arrays, and objects to store donor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search algorithm to find donors.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conditions and loops for filtering donors.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Created functions for donor registration and login.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blood compatibility logic.</a:t>
            </a:r>
          </a:p>
        </p:txBody>
      </p:sp>
      <p:sp>
        <p:nvSpPr>
          <p:cNvPr id="4" name="Date Placeholder 3">
            <a:extLst>
              <a:ext uri="{FF2B5EF4-FFF2-40B4-BE49-F238E27FC236}">
                <a16:creationId xmlns:a16="http://schemas.microsoft.com/office/drawing/2014/main" id="{121485FD-6D2E-406E-B412-41DF3EEE367E}"/>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18D53B3A-3E41-4565-A193-3B7CDA9831B0}"/>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6A4B96C-79A9-4F10-9E81-0B3B3B7CC3FC}"/>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2778205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54463-E130-4DF6-81C9-11EACC5F07ED}"/>
              </a:ext>
            </a:extLst>
          </p:cNvPr>
          <p:cNvSpPr>
            <a:spLocks noGrp="1"/>
          </p:cNvSpPr>
          <p:nvPr>
            <p:ph type="title"/>
          </p:nvPr>
        </p:nvSpPr>
        <p:spPr/>
        <p:txBody>
          <a:bodyPr>
            <a:normAutofit fontScale="90000"/>
          </a:bodyPr>
          <a:lstStyle/>
          <a:p>
            <a:br>
              <a:rPr lang="en-US" b="1" dirty="0"/>
            </a:br>
            <a:r>
              <a:rPr lang="en-US" b="1" dirty="0"/>
              <a:t>CO4 – JavaScript Interactivity, DOM &amp; Events</a:t>
            </a:r>
            <a:br>
              <a:rPr lang="en-US" b="1" dirty="0"/>
            </a:br>
            <a:endParaRPr lang="en-IN" dirty="0"/>
          </a:p>
        </p:txBody>
      </p:sp>
      <p:sp>
        <p:nvSpPr>
          <p:cNvPr id="8" name="Rectangle 1">
            <a:extLst>
              <a:ext uri="{FF2B5EF4-FFF2-40B4-BE49-F238E27FC236}">
                <a16:creationId xmlns:a16="http://schemas.microsoft.com/office/drawing/2014/main" id="{4A746996-2A64-480C-918F-3E2345D4EE07}"/>
              </a:ext>
            </a:extLst>
          </p:cNvPr>
          <p:cNvSpPr>
            <a:spLocks noGrp="1" noChangeArrowheads="1"/>
          </p:cNvSpPr>
          <p:nvPr>
            <p:ph idx="1"/>
          </p:nvPr>
        </p:nvSpPr>
        <p:spPr bwMode="auto">
          <a:xfrm>
            <a:off x="745435" y="1764476"/>
            <a:ext cx="8595623"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DOM manipulation to display donor lists dynamically.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event handling for buttons (login, search, register).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Created Emergency Mode button interaction.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Generated dynamic WhatsApp contact messages.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Updated UI elements using JavaScript DOM updates.</a:t>
            </a:r>
          </a:p>
        </p:txBody>
      </p:sp>
      <p:sp>
        <p:nvSpPr>
          <p:cNvPr id="4" name="Date Placeholder 3">
            <a:extLst>
              <a:ext uri="{FF2B5EF4-FFF2-40B4-BE49-F238E27FC236}">
                <a16:creationId xmlns:a16="http://schemas.microsoft.com/office/drawing/2014/main" id="{D7CD2708-F715-4B70-B4E2-4231190D3061}"/>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5AE1D73D-5F00-4DB9-8267-68275B18961C}"/>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F4A73C21-F2AC-4C46-84E8-F94D097CA2D7}"/>
              </a:ext>
            </a:extLst>
          </p:cNvPr>
          <p:cNvSpPr>
            <a:spLocks noGrp="1"/>
          </p:cNvSpPr>
          <p:nvPr>
            <p:ph type="sldNum" sz="quarter" idx="12"/>
          </p:nvPr>
        </p:nvSpPr>
        <p:spPr/>
        <p:txBody>
          <a:bodyPr/>
          <a:lstStyle/>
          <a:p>
            <a:fld id="{B961B71F-4B40-8942-BB88-E0F5C0B46E10}" type="slidenum">
              <a:rPr lang="en-US" smtClean="0"/>
              <a:t>15</a:t>
            </a:fld>
            <a:endParaRPr lang="en-US"/>
          </a:p>
        </p:txBody>
      </p:sp>
      <p:sp>
        <p:nvSpPr>
          <p:cNvPr id="7" name="Title 1">
            <a:extLst>
              <a:ext uri="{FF2B5EF4-FFF2-40B4-BE49-F238E27FC236}">
                <a16:creationId xmlns:a16="http://schemas.microsoft.com/office/drawing/2014/main" id="{2C841920-5C80-4110-8AD8-97601888DE53}"/>
              </a:ext>
            </a:extLst>
          </p:cNvPr>
          <p:cNvSpPr txBox="1">
            <a:spLocks/>
          </p:cNvSpPr>
          <p:nvPr/>
        </p:nvSpPr>
        <p:spPr>
          <a:xfrm>
            <a:off x="838200" y="35187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dirty="0"/>
          </a:p>
        </p:txBody>
      </p:sp>
    </p:spTree>
    <p:extLst>
      <p:ext uri="{BB962C8B-B14F-4D97-AF65-F5344CB8AC3E}">
        <p14:creationId xmlns:p14="http://schemas.microsoft.com/office/powerpoint/2010/main" val="3775554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8788A-18EC-4A68-AC0D-18976B0321A2}"/>
              </a:ext>
            </a:extLst>
          </p:cNvPr>
          <p:cNvSpPr>
            <a:spLocks noGrp="1"/>
          </p:cNvSpPr>
          <p:nvPr>
            <p:ph type="title"/>
          </p:nvPr>
        </p:nvSpPr>
        <p:spPr/>
        <p:txBody>
          <a:bodyPr>
            <a:normAutofit fontScale="90000"/>
          </a:bodyPr>
          <a:lstStyle/>
          <a:p>
            <a:br>
              <a:rPr lang="en-US" b="1" dirty="0"/>
            </a:br>
            <a:r>
              <a:rPr lang="en-US" b="1" dirty="0"/>
              <a:t>CO5 – Advanced Web Development &amp; Deployment</a:t>
            </a:r>
            <a:br>
              <a:rPr lang="en-US" b="1" dirty="0"/>
            </a:br>
            <a:endParaRPr lang="en-IN" dirty="0"/>
          </a:p>
        </p:txBody>
      </p:sp>
      <p:sp>
        <p:nvSpPr>
          <p:cNvPr id="7" name="Rectangle 1">
            <a:extLst>
              <a:ext uri="{FF2B5EF4-FFF2-40B4-BE49-F238E27FC236}">
                <a16:creationId xmlns:a16="http://schemas.microsoft.com/office/drawing/2014/main" id="{22692EBF-1487-4EB8-81BF-A0E6592B99A7}"/>
              </a:ext>
            </a:extLst>
          </p:cNvPr>
          <p:cNvSpPr>
            <a:spLocks noGrp="1" noChangeArrowheads="1"/>
          </p:cNvSpPr>
          <p:nvPr>
            <p:ph idx="1"/>
          </p:nvPr>
        </p:nvSpPr>
        <p:spPr bwMode="auto">
          <a:xfrm>
            <a:off x="838200" y="1742031"/>
            <a:ext cx="7999306"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localStorage to store donor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Created dynamic donor database in browser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Optimized page interaction for fast client-side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responsive layout for better user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Prepared the project for web deployment</a:t>
            </a:r>
            <a:r>
              <a:rPr kumimoji="0" lang="en-US" altLang="en-US" sz="1800" i="0" u="none" strike="noStrike" cap="none" normalizeH="0" baseline="0" dirty="0">
                <a:ln>
                  <a:noFill/>
                </a:ln>
                <a:solidFill>
                  <a:schemeClr val="tx1"/>
                </a:solidFill>
                <a:effectLst/>
                <a:latin typeface="Arial" panose="020B0604020202020204" pitchFamily="34" charset="0"/>
              </a:rPr>
              <a:t>.</a:t>
            </a:r>
          </a:p>
        </p:txBody>
      </p:sp>
      <p:sp>
        <p:nvSpPr>
          <p:cNvPr id="4" name="Date Placeholder 3">
            <a:extLst>
              <a:ext uri="{FF2B5EF4-FFF2-40B4-BE49-F238E27FC236}">
                <a16:creationId xmlns:a16="http://schemas.microsoft.com/office/drawing/2014/main" id="{C6B219B8-C582-4FB7-B0F8-7496CAEB780C}"/>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BA821500-D891-4C64-BDFB-6D2088C8376E}"/>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9A47D60-185C-4531-B6A7-636634C8AB5D}"/>
              </a:ext>
            </a:extLst>
          </p:cNvPr>
          <p:cNvSpPr>
            <a:spLocks noGrp="1"/>
          </p:cNvSpPr>
          <p:nvPr>
            <p:ph type="sldNum" sz="quarter" idx="12"/>
          </p:nvPr>
        </p:nvSpPr>
        <p:spPr/>
        <p:txBody>
          <a:bodyPr/>
          <a:lstStyle/>
          <a:p>
            <a:fld id="{B961B71F-4B40-8942-BB88-E0F5C0B46E10}" type="slidenum">
              <a:rPr lang="en-US" smtClean="0"/>
              <a:t>16</a:t>
            </a:fld>
            <a:endParaRPr lang="en-US"/>
          </a:p>
        </p:txBody>
      </p:sp>
    </p:spTree>
    <p:extLst>
      <p:ext uri="{BB962C8B-B14F-4D97-AF65-F5344CB8AC3E}">
        <p14:creationId xmlns:p14="http://schemas.microsoft.com/office/powerpoint/2010/main" val="749453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t>
            </a:r>
          </a:p>
        </p:txBody>
      </p:sp>
      <p:pic>
        <p:nvPicPr>
          <p:cNvPr id="8" name="Content Placeholder 7">
            <a:extLst>
              <a:ext uri="{FF2B5EF4-FFF2-40B4-BE49-F238E27FC236}">
                <a16:creationId xmlns:a16="http://schemas.microsoft.com/office/drawing/2014/main" id="{7153C50C-5D76-4E3D-8826-F27CB22812D4}"/>
              </a:ext>
            </a:extLst>
          </p:cNvPr>
          <p:cNvPicPr>
            <a:picLocks noGrp="1" noChangeAspect="1"/>
          </p:cNvPicPr>
          <p:nvPr>
            <p:ph idx="1"/>
          </p:nvPr>
        </p:nvPicPr>
        <p:blipFill>
          <a:blip r:embed="rId2"/>
          <a:stretch>
            <a:fillRect/>
          </a:stretch>
        </p:blipFill>
        <p:spPr>
          <a:xfrm>
            <a:off x="1883853" y="1481144"/>
            <a:ext cx="8424294" cy="4875206"/>
          </a:xfrm>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17</a:t>
            </a:fld>
            <a:endParaRPr lang="en-US"/>
          </a:p>
        </p:txBody>
      </p:sp>
    </p:spTree>
    <p:extLst>
      <p:ext uri="{BB962C8B-B14F-4D97-AF65-F5344CB8AC3E}">
        <p14:creationId xmlns:p14="http://schemas.microsoft.com/office/powerpoint/2010/main" val="3431953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1AA9075-F411-4D87-A46A-0FF139F5F5E7}"/>
              </a:ext>
            </a:extLst>
          </p:cNvPr>
          <p:cNvPicPr>
            <a:picLocks noGrp="1" noChangeAspect="1"/>
          </p:cNvPicPr>
          <p:nvPr>
            <p:ph idx="1"/>
          </p:nvPr>
        </p:nvPicPr>
        <p:blipFill>
          <a:blip r:embed="rId2"/>
          <a:stretch>
            <a:fillRect/>
          </a:stretch>
        </p:blipFill>
        <p:spPr>
          <a:xfrm>
            <a:off x="813472" y="808206"/>
            <a:ext cx="10540328" cy="5241588"/>
          </a:xfrm>
        </p:spPr>
      </p:pic>
      <p:sp>
        <p:nvSpPr>
          <p:cNvPr id="4" name="Date Placeholder 3">
            <a:extLst>
              <a:ext uri="{FF2B5EF4-FFF2-40B4-BE49-F238E27FC236}">
                <a16:creationId xmlns:a16="http://schemas.microsoft.com/office/drawing/2014/main" id="{8BFBB6A1-0D29-4591-93D3-959D53E288D5}"/>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D3908D5D-9272-4D40-B313-E9244D25CF7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62366E42-3882-4EF6-B20C-30A25D235074}"/>
              </a:ext>
            </a:extLst>
          </p:cNvPr>
          <p:cNvSpPr>
            <a:spLocks noGrp="1"/>
          </p:cNvSpPr>
          <p:nvPr>
            <p:ph type="sldNum" sz="quarter" idx="12"/>
          </p:nvPr>
        </p:nvSpPr>
        <p:spPr/>
        <p:txBody>
          <a:bodyPr/>
          <a:lstStyle/>
          <a:p>
            <a:fld id="{B961B71F-4B40-8942-BB88-E0F5C0B46E10}" type="slidenum">
              <a:rPr lang="en-US" smtClean="0"/>
              <a:t>18</a:t>
            </a:fld>
            <a:endParaRPr lang="en-US"/>
          </a:p>
        </p:txBody>
      </p:sp>
    </p:spTree>
    <p:extLst>
      <p:ext uri="{BB962C8B-B14F-4D97-AF65-F5344CB8AC3E}">
        <p14:creationId xmlns:p14="http://schemas.microsoft.com/office/powerpoint/2010/main" val="1034372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A0CF0D7-71AC-4AE6-8D09-FE6A446B178A}"/>
              </a:ext>
            </a:extLst>
          </p:cNvPr>
          <p:cNvPicPr>
            <a:picLocks noGrp="1" noChangeAspect="1"/>
          </p:cNvPicPr>
          <p:nvPr>
            <p:ph idx="1"/>
          </p:nvPr>
        </p:nvPicPr>
        <p:blipFill>
          <a:blip r:embed="rId2"/>
          <a:stretch>
            <a:fillRect/>
          </a:stretch>
        </p:blipFill>
        <p:spPr>
          <a:xfrm>
            <a:off x="2792763" y="365125"/>
            <a:ext cx="6125950" cy="5954195"/>
          </a:xfrm>
        </p:spPr>
      </p:pic>
      <p:sp>
        <p:nvSpPr>
          <p:cNvPr id="4" name="Date Placeholder 3">
            <a:extLst>
              <a:ext uri="{FF2B5EF4-FFF2-40B4-BE49-F238E27FC236}">
                <a16:creationId xmlns:a16="http://schemas.microsoft.com/office/drawing/2014/main" id="{B32CDDAD-18E4-4B2D-9DFE-9B8449B845D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D5BFAA13-5967-4B63-BDD3-E2181871284E}"/>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FF8A90A-F3D9-4E52-8B73-DE88F3233FD4}"/>
              </a:ext>
            </a:extLst>
          </p:cNvPr>
          <p:cNvSpPr>
            <a:spLocks noGrp="1"/>
          </p:cNvSpPr>
          <p:nvPr>
            <p:ph type="sldNum" sz="quarter" idx="12"/>
          </p:nvPr>
        </p:nvSpPr>
        <p:spPr/>
        <p:txBody>
          <a:bodyPr/>
          <a:lstStyle/>
          <a:p>
            <a:fld id="{B961B71F-4B40-8942-BB88-E0F5C0B46E10}" type="slidenum">
              <a:rPr lang="en-US" smtClean="0"/>
              <a:t>19</a:t>
            </a:fld>
            <a:endParaRPr lang="en-US"/>
          </a:p>
        </p:txBody>
      </p:sp>
    </p:spTree>
    <p:extLst>
      <p:ext uri="{BB962C8B-B14F-4D97-AF65-F5344CB8AC3E}">
        <p14:creationId xmlns:p14="http://schemas.microsoft.com/office/powerpoint/2010/main" val="3036732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a:xfrm>
            <a:off x="838200" y="1493134"/>
            <a:ext cx="10515600" cy="4351338"/>
          </a:xfrm>
        </p:spPr>
        <p:txBody>
          <a:bodyPr>
            <a:normAutofit/>
          </a:bodyPr>
          <a:lstStyle/>
          <a:p>
            <a:pPr marL="0" indent="0">
              <a:buNone/>
            </a:pPr>
            <a:r>
              <a:rPr lang="en-US" sz="2500" dirty="0">
                <a:latin typeface="Times New Roman" panose="02020603050405020304" pitchFamily="18" charset="0"/>
                <a:cs typeface="Times New Roman" panose="02020603050405020304" pitchFamily="18" charset="0"/>
              </a:rPr>
              <a:t>This project successfully developed a web-based Emergency Blood Request &amp;   Donor Finder System using HTML, CSS, and JavaScript. The system allows users to search donors based on blood group and location, activate emergency mode, and check donor eligibility using predefined health rules. The project enhanced our understanding of DOM manipulation, event handling, browser storage, and client-side application development. Overall, this project demonstrates how basic web technologies can be used to solve real-world problems effectively.</a:t>
            </a:r>
          </a:p>
          <a:p>
            <a:pPr marL="0" indent="0">
              <a:buNone/>
            </a:pP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20</a:t>
            </a:fld>
            <a:endParaRPr lang="en-US"/>
          </a:p>
        </p:txBody>
      </p:sp>
    </p:spTree>
    <p:extLst>
      <p:ext uri="{BB962C8B-B14F-4D97-AF65-F5344CB8AC3E}">
        <p14:creationId xmlns:p14="http://schemas.microsoft.com/office/powerpoint/2010/main" val="2858912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21</a:t>
            </a:fld>
            <a:endParaRPr lang="en-US"/>
          </a:p>
        </p:txBody>
      </p:sp>
      <p:pic>
        <p:nvPicPr>
          <p:cNvPr id="7" name="Content Placeholder 7">
            <a:extLst>
              <a:ext uri="{FF2B5EF4-FFF2-40B4-BE49-F238E27FC236}">
                <a16:creationId xmlns:a16="http://schemas.microsoft.com/office/drawing/2014/main" id="{1DB80332-8B35-4DDE-9155-1D685877D608}"/>
              </a:ext>
            </a:extLst>
          </p:cNvPr>
          <p:cNvPicPr>
            <a:picLocks noChangeAspect="1"/>
          </p:cNvPicPr>
          <p:nvPr/>
        </p:nvPicPr>
        <p:blipFill>
          <a:blip r:embed="rId2"/>
          <a:stretch>
            <a:fillRect/>
          </a:stretch>
        </p:blipFill>
        <p:spPr>
          <a:xfrm>
            <a:off x="1977887" y="1785868"/>
            <a:ext cx="2850952" cy="3801270"/>
          </a:xfrm>
          <a:prstGeom prst="rect">
            <a:avLst/>
          </a:prstGeom>
        </p:spPr>
      </p:pic>
      <p:pic>
        <p:nvPicPr>
          <p:cNvPr id="8" name="Picture 7">
            <a:extLst>
              <a:ext uri="{FF2B5EF4-FFF2-40B4-BE49-F238E27FC236}">
                <a16:creationId xmlns:a16="http://schemas.microsoft.com/office/drawing/2014/main" id="{0240F2E4-4FCE-4A11-A50A-96629B75B196}"/>
              </a:ext>
            </a:extLst>
          </p:cNvPr>
          <p:cNvPicPr>
            <a:picLocks noChangeAspect="1"/>
          </p:cNvPicPr>
          <p:nvPr/>
        </p:nvPicPr>
        <p:blipFill>
          <a:blip r:embed="rId3"/>
          <a:stretch>
            <a:fillRect/>
          </a:stretch>
        </p:blipFill>
        <p:spPr>
          <a:xfrm>
            <a:off x="5950226" y="2116172"/>
            <a:ext cx="3909392" cy="2932044"/>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Custom Design">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3960</TotalTime>
  <Words>1026</Words>
  <Application>Microsoft Office PowerPoint</Application>
  <PresentationFormat>Widescreen</PresentationFormat>
  <Paragraphs>174</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(Body)</vt:lpstr>
      <vt:lpstr>Calibri Light</vt:lpstr>
      <vt:lpstr>Times New Roman</vt:lpstr>
      <vt:lpstr>Custom Design</vt:lpstr>
      <vt:lpstr>Title: Emergency Blood Request And Donor Finder</vt:lpstr>
      <vt:lpstr>OUTLINE</vt:lpstr>
      <vt:lpstr>Abstract</vt:lpstr>
      <vt:lpstr>Existing System </vt:lpstr>
      <vt:lpstr>PowerPoint Presentation</vt:lpstr>
      <vt:lpstr>Proposed System</vt:lpstr>
      <vt:lpstr>PowerPoint Presentation</vt:lpstr>
      <vt:lpstr>System Architecture</vt:lpstr>
      <vt:lpstr>Project Modules</vt:lpstr>
      <vt:lpstr>PowerPoint Presentation</vt:lpstr>
      <vt:lpstr>Objectives</vt:lpstr>
      <vt:lpstr>Co’s Attainments - FWD</vt:lpstr>
      <vt:lpstr>CO2 – HTML Forms &amp; Input Handling</vt:lpstr>
      <vt:lpstr>CO3 – JavaScript Programming Essentials</vt:lpstr>
      <vt:lpstr> CO4 – JavaScript Interactivity, DOM &amp; Events </vt:lpstr>
      <vt:lpstr> CO5 – Advanced Web Development &amp; Deployment </vt:lpstr>
      <vt:lpstr>Screenshots for FWD </vt:lpstr>
      <vt:lpstr>PowerPoint Presentation</vt:lpstr>
      <vt:lpstr>PowerPoint Presentation</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Dikshita Siripireddy</cp:lastModifiedBy>
  <cp:revision>80</cp:revision>
  <dcterms:created xsi:type="dcterms:W3CDTF">2022-05-20T10:20:31Z</dcterms:created>
  <dcterms:modified xsi:type="dcterms:W3CDTF">2026-03-10T02:52:38Z</dcterms:modified>
</cp:coreProperties>
</file>